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  <a:latin typeface="Trebuchet MS"/>
              </a:defRPr>
            </a:pPr>
            <a:r>
              <a:t>Student Dropout Risk Prediction</a:t>
            </a:r>
          </a:p>
          <a:p>
            <a:pPr>
              <a:spcAft>
                <a:spcPts val="4000"/>
              </a:spcAft>
              <a:defRPr sz="2000">
                <a:solidFill>
                  <a:srgbClr val="38BDF8"/>
                </a:solidFill>
                <a:latin typeface="Calibri"/>
              </a:defRPr>
            </a:pPr>
            <a:r>
              <a:t>A Multimodal Machine Learning Approach using Academics, Attendance, and Counsellor Insights</a:t>
            </a:r>
          </a:p>
          <a:p>
            <a:pPr>
              <a:defRPr sz="1600" b="1">
                <a:solidFill>
                  <a:srgbClr val="F8FAFC"/>
                </a:solidFill>
                <a:latin typeface="Calibri"/>
              </a:defRPr>
            </a:pPr>
            <a:r>
              <a:t>Presented by: Adarsh Prakash Singh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RetinaAI System | Kaggle Competition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Project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THE PROBLEM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Educational institutions struggle to identify at-risk students before they drop out.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Key indicators (academic decline, irregular attendance, behavioral changes) are scattered across disconnected systems.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Traditional intervention methods are reactive and occur too late to support the student effectively.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Manual tracking of qualitative insights (e.g., counselor notes) is labor-intensive and rarely integrated with quantitative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THE RETINAAI SOLUTION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 multimodal AI prediction system that fuses academic records, attendance history, and unstructured counselor notes.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Predicts student risk in real-time, categorizing them into: Low Risk (0), Medium Risk (1), or High Risk (2).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NLP extraction translates messy counselor narratives into predictive quantitative dimensions.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Enables targeted, proactive counseling and academic support prior to final withdrawal.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Multimodal Data Modalities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TABULAR DATA</a:t>
            </a:r>
          </a:p>
          <a:p>
            <a:pPr>
              <a:spcAft>
                <a:spcPts val="1400"/>
              </a:spcAft>
              <a:defRPr sz="1300" i="1">
                <a:solidFill>
                  <a:srgbClr val="94A3B8"/>
                </a:solidFill>
                <a:latin typeface="Calibri"/>
              </a:defRPr>
            </a:pPr>
            <a:r>
              <a:t>Socio-economic &amp; demographic features.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Demographics: Gender, Branch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Socio-Economic: Family Income, Parent Education, Scholarship Status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Lifestyle Factors: Screen Time, Commute Time, Part-time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ATTENDANCE TIME-SERIES</a:t>
            </a:r>
          </a:p>
          <a:p>
            <a:pPr>
              <a:spcAft>
                <a:spcPts val="1400"/>
              </a:spcAft>
              <a:defRPr sz="1300" i="1">
                <a:solidFill>
                  <a:srgbClr val="94A3B8"/>
                </a:solidFill>
                <a:latin typeface="Calibri"/>
              </a:defRPr>
            </a:pPr>
            <a:r>
              <a:t>Temporal attendance tracking.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Semester-wise attendance rates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Long-term trend indicators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Attendance consistency variance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Linear regression slope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COUNSELLOR NOTES (TEXT)</a:t>
            </a:r>
          </a:p>
          <a:p>
            <a:pPr>
              <a:spcAft>
                <a:spcPts val="1400"/>
              </a:spcAft>
              <a:defRPr sz="1300" i="1">
                <a:solidFill>
                  <a:srgbClr val="94A3B8"/>
                </a:solidFill>
                <a:latin typeface="Calibri"/>
              </a:defRPr>
            </a:pPr>
            <a:r>
              <a:t>Qualitative behavioral insights.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Messy, unstructured counselor logs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Student feedback narratives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Explanatory context for academic decline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Behavioral and emotional observations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Feature Engineering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ACADEMIC METRICS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CGPA Mean:</a:t>
            </a:r>
            <a:r>
              <a:rPr sz="1300">
                <a:solidFill>
                  <a:srgbClr val="94A3B8"/>
                </a:solidFill>
                <a:latin typeface="Calibri"/>
              </a:rPr>
              <a:t> Captures overall performance history.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CGPA Standard Deviation:</a:t>
            </a:r>
            <a:r>
              <a:rPr sz="1300">
                <a:solidFill>
                  <a:srgbClr val="94A3B8"/>
                </a:solidFill>
                <a:latin typeface="Calibri"/>
              </a:rPr>
              <a:t> Monitors performance volatility.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CGPA Trend:</a:t>
            </a:r>
            <a:r>
              <a:rPr sz="1300">
                <a:solidFill>
                  <a:srgbClr val="94A3B8"/>
                </a:solidFill>
                <a:latin typeface="Calibri"/>
              </a:rPr>
              <a:t> Captures directional academic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BACKLOG INDICATORS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Total Backlogs:</a:t>
            </a:r>
            <a:r>
              <a:rPr sz="1300">
                <a:solidFill>
                  <a:srgbClr val="94A3B8"/>
                </a:solidFill>
                <a:latin typeface="Calibri"/>
              </a:rPr>
              <a:t> Cumulative failed courses.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Average Backlogs:</a:t>
            </a:r>
            <a:r>
              <a:rPr sz="1300">
                <a:solidFill>
                  <a:srgbClr val="94A3B8"/>
                </a:solidFill>
                <a:latin typeface="Calibri"/>
              </a:rPr>
              <a:t> Course failure rate.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Backlog Trend:</a:t>
            </a:r>
            <a:r>
              <a:rPr sz="1300">
                <a:solidFill>
                  <a:srgbClr val="94A3B8"/>
                </a:solidFill>
                <a:latin typeface="Calibri"/>
              </a:rPr>
              <a:t> Shows whether backlogs are increasing or decreasing over semesters.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ATTENDANCE DYNAMICS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Attendance Range &amp; Std Dev:</a:t>
            </a:r>
            <a:r>
              <a:rPr sz="1300">
                <a:solidFill>
                  <a:srgbClr val="94A3B8"/>
                </a:solidFill>
                <a:latin typeface="Calibri"/>
              </a:rPr>
              <a:t> Tracks attendance consistency.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Attendance Slope:</a:t>
            </a:r>
            <a:r>
              <a:rPr sz="1300">
                <a:solidFill>
                  <a:srgbClr val="94A3B8"/>
                </a:solidFill>
                <a:latin typeface="Calibri"/>
              </a:rPr>
              <a:t> Identifies steep drops in class presence.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Semester Metrics:</a:t>
            </a:r>
            <a:r>
              <a:rPr sz="1300">
                <a:solidFill>
                  <a:srgbClr val="94A3B8"/>
                </a:solidFill>
                <a:latin typeface="Calibri"/>
              </a:rPr>
              <a:t> Tracks semester-over-semester differences.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TEXT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NLP Extraction on Counselor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THE TEXT MINING CHALLENGE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Counselor observations contain critical qualitative descriptions of a student's mental state, family troubles, or financial burdens. However, being unstructured text, they cannot be natively processed by standard gradient boosting libraries.</a:t>
            </a:r>
          </a:p>
          <a:p>
            <a:pPr>
              <a:spcAft>
                <a:spcPts val="10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OUR TWO-STEP NLP PIPELINE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F8FAFC"/>
                </a:solidFill>
                <a:latin typeface="Calibri"/>
              </a:rPr>
              <a:t>• TF-IDF Vectorization:</a:t>
            </a:r>
            <a:r>
              <a:rPr sz="1400">
                <a:solidFill>
                  <a:srgbClr val="94A3B8"/>
                </a:solidFill>
                <a:latin typeface="Calibri"/>
              </a:rPr>
              <a:t> Converts counselor notes into numerical frequency metrics, capturing the significance of particular risk keywords.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F8FAFC"/>
                </a:solidFill>
                <a:latin typeface="Calibri"/>
              </a:rPr>
              <a:t>• Truncated SVD (LSA):</a:t>
            </a:r>
            <a:r>
              <a:rPr sz="1400">
                <a:solidFill>
                  <a:srgbClr val="94A3B8"/>
                </a:solidFill>
                <a:latin typeface="Calibri"/>
              </a:rPr>
              <a:t> Applies dimensionality reduction to the TF-IDF matrix. This extracts dense semantic features (latent themes) and removes 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  <a:latin typeface="Trebuchet MS"/>
              </a:defRPr>
            </a:pPr>
            <a:r>
              <a:t>NLP PIPELINE HIGHLIGHTS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Model-Agnostic Inputs:</a:t>
            </a:r>
            <a:r>
              <a:rPr sz="1300">
                <a:solidFill>
                  <a:srgbClr val="94A3B8"/>
                </a:solidFill>
                <a:latin typeface="Calibri"/>
              </a:rPr>
              <a:t> The dense SVD features integrate seamlessly with tabular and time-series variables.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Noise Reduction:</a:t>
            </a:r>
            <a:r>
              <a:rPr sz="1300">
                <a:solidFill>
                  <a:srgbClr val="94A3B8"/>
                </a:solidFill>
                <a:latin typeface="Calibri"/>
              </a:rPr>
              <a:t> Limits vocabulary size to focus exclusively on highly discriminative counselling terms.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Performance Lift:</a:t>
            </a:r>
            <a:r>
              <a:rPr sz="1300">
                <a:solidFill>
                  <a:srgbClr val="94A3B8"/>
                </a:solidFill>
                <a:latin typeface="Calibri"/>
              </a:rPr>
              <a:t> Feature importance reviews indicate counselor notes are one of the strongest predictors of student dropouts.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Machine Learning Modeling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CATBOOST</a:t>
            </a:r>
          </a:p>
          <a:p>
            <a:pPr>
              <a:spcAft>
                <a:spcPts val="2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Built-in support for categorical features. Excellent out-of-the-box generalization.</a:t>
            </a:r>
          </a:p>
          <a:p>
            <a:pPr>
              <a:defRPr sz="1600" b="1">
                <a:solidFill>
                  <a:srgbClr val="4ADE80"/>
                </a:solidFill>
                <a:latin typeface="Trebuchet MS"/>
              </a:defRPr>
            </a:pPr>
            <a:r>
              <a:t>Ensemble Weight: 70%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LIGHTGBM</a:t>
            </a:r>
          </a:p>
          <a:p>
            <a:pPr>
              <a:spcAft>
                <a:spcPts val="2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Fast, highly efficient histogram-based gradient booster. Speeds up iterations.</a:t>
            </a:r>
          </a:p>
          <a:p>
            <a:pPr>
              <a:defRPr sz="1600" b="1">
                <a:solidFill>
                  <a:srgbClr val="4ADE80"/>
                </a:solidFill>
                <a:latin typeface="Trebuchet MS"/>
              </a:defRPr>
            </a:pPr>
            <a:r>
              <a:t>Ensemble Weight: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XGBOOST</a:t>
            </a:r>
          </a:p>
          <a:p>
            <a:pPr>
              <a:spcAft>
                <a:spcPts val="2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Extremely robust tree-boosting learner. Captures non-linear dependencies.</a:t>
            </a:r>
          </a:p>
          <a:p>
            <a:pPr>
              <a:defRPr sz="1600" b="1">
                <a:solidFill>
                  <a:srgbClr val="4ADE80"/>
                </a:solidFill>
                <a:latin typeface="Trebuchet MS"/>
              </a:defRPr>
            </a:pPr>
            <a:r>
              <a:t>Ensemble Weight: 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4A3B8"/>
                </a:solidFill>
                <a:latin typeface="Calibri"/>
              </a:defRPr>
            </a:pPr>
            <a:r>
              <a:t>Cross-Validation: Stratified 5-Fold to address class imbalance. | Metric: Macro F1-Score (treats classes equally).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Ensemble &amp; Threshold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PROBABILITY ENSEMBLING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Rather than hard voting, we averaged the class probabilities outputted by each model. The blending weights reflect each model's individual performance: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CatBoost: 70% (Primary anchor due to best standalone score)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LightGBM: 15% (Secondary booster)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XGBoost: 15% (Tertiary booster)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THRESHOLD OPTIMIZATION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Since the target metric is Macro F1, class imbalance significantly penalizes poor predictions on minority classes. Standard argmax over probabilities is often suboptimal.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We tuned threshold multipliers on the validation folds:</a:t>
            </a:r>
          </a:p>
          <a:p>
            <a:pPr>
              <a:defRPr sz="1400" b="1">
                <a:solidFill>
                  <a:srgbClr val="38BDF8"/>
                </a:solidFill>
                <a:latin typeface="Trebuchet MS"/>
              </a:defRPr>
            </a:pPr>
            <a:r>
              <a:t>★ Class 1 Multiplier: 1.30  |  ★ Class 2 Multiplier: 1.30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This scaling boosts predictions for minority categories, optimizing the overall Macro F1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EVALUATION METRIC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The competition uses Macro F1-Score as the primary evaluation metric.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By optimizing probability thresholds for Medium Risk (1) and High Risk (2), we achieved a significant improvement over standalone baseline models.</a:t>
            </a:r>
          </a:p>
          <a:p>
            <a:pPr>
              <a:defRPr sz="1600" b="1">
                <a:solidFill>
                  <a:srgbClr val="4ADE80"/>
                </a:solidFill>
                <a:latin typeface="Trebuchet MS"/>
              </a:defRPr>
            </a:pPr>
            <a:r>
              <a:t>Final Best Validation Score: 0.7072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03520" y="1645920"/>
          <a:ext cx="6126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38BDF8"/>
                          </a:solidFill>
                          <a:latin typeface="Trebuchet MS"/>
                        </a:defRPr>
                      </a:pPr>
                      <a:r>
                        <a:t>Model / Technique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38BDF8"/>
                          </a:solidFill>
                          <a:latin typeface="Trebuchet MS"/>
                        </a:defRPr>
                      </a:pPr>
                      <a:r>
                        <a:t>Validation Macro 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CatBoost (Standalone)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0.6991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LightGBM (Standalone)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0.6887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XGBoost (Standalone)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0.6927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Three-Model Ensemble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0.7017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Ensemble + Threshold Optimization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0.7072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Key Insights &amp; Project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KEY DROPOUT DRIVERS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Attendance Behavior:</a:t>
            </a:r>
            <a:r>
              <a:rPr sz="1300">
                <a:solidFill>
                  <a:srgbClr val="94A3B8"/>
                </a:solidFill>
                <a:latin typeface="Calibri"/>
              </a:rPr>
              <a:t> Strongest indicator of disengagement.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CGPA Consistency &amp; Trend:</a:t>
            </a:r>
            <a:r>
              <a:rPr sz="1300">
                <a:solidFill>
                  <a:srgbClr val="94A3B8"/>
                </a:solidFill>
                <a:latin typeface="Calibri"/>
              </a:rPr>
              <a:t> Sudden declines trigger warnings.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Lifestyle Factors:</a:t>
            </a:r>
            <a:r>
              <a:rPr sz="1300">
                <a:solidFill>
                  <a:srgbClr val="94A3B8"/>
                </a:solidFill>
                <a:latin typeface="Calibri"/>
              </a:rPr>
              <a:t> Excessive screen time and long commute times.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Socio-Economic Variables:</a:t>
            </a:r>
            <a:r>
              <a:rPr sz="1300">
                <a:solidFill>
                  <a:srgbClr val="94A3B8"/>
                </a:solidFill>
                <a:latin typeface="Calibri"/>
              </a:rPr>
              <a:t> Family income and parental support.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Counsellor Insights:</a:t>
            </a:r>
            <a:r>
              <a:rPr sz="1300">
                <a:solidFill>
                  <a:srgbClr val="94A3B8"/>
                </a:solidFill>
                <a:latin typeface="Calibri"/>
              </a:rPr>
              <a:t> Highly discriminative when NLP-processed.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CHALLENGES OVERCOME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Messy Texts:</a:t>
            </a:r>
            <a:r>
              <a:rPr sz="1300">
                <a:solidFill>
                  <a:srgbClr val="94A3B8"/>
                </a:solidFill>
                <a:latin typeface="Calibri"/>
              </a:rPr>
              <a:t> Filtering repetitive boilerplate phrases from counselor reports.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Feature Drift:</a:t>
            </a:r>
            <a:r>
              <a:rPr sz="1300">
                <a:solidFill>
                  <a:srgbClr val="94A3B8"/>
                </a:solidFill>
                <a:latin typeface="Calibri"/>
              </a:rPr>
              <a:t> Ensuring engineered academic/attendance metrics match across training and test splits.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Class Disproportion:</a:t>
            </a:r>
            <a:r>
              <a:rPr sz="1300">
                <a:solidFill>
                  <a:srgbClr val="94A3B8"/>
                </a:solidFill>
                <a:latin typeface="Calibri"/>
              </a:rPr>
              <a:t> Overcoming poor validation scores on minority dropout classes via threshold optimization.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Imbalanced F1 Optimization:</a:t>
            </a:r>
            <a:r>
              <a:rPr sz="1300">
                <a:solidFill>
                  <a:srgbClr val="94A3B8"/>
                </a:solidFill>
                <a:latin typeface="Calibri"/>
              </a:rPr>
              <a:t> Directing training toward Macro F1 rather than raw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Future Scope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KEY TAKEAWAYS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Feature Engineering &gt; Model Complexity:</a:t>
            </a:r>
            <a:r>
              <a:rPr sz="1300">
                <a:solidFill>
                  <a:srgbClr val="94A3B8"/>
                </a:solidFill>
                <a:latin typeface="Calibri"/>
              </a:rPr>
              <a:t> Clean, domain-specific features (e.g. CGPA slope, attendance trends) yield far higher gains than hyperparameter tuning alone.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Multimodal Synergy:</a:t>
            </a:r>
            <a:r>
              <a:rPr sz="1300">
                <a:solidFill>
                  <a:srgbClr val="94A3B8"/>
                </a:solidFill>
                <a:latin typeface="Calibri"/>
              </a:rPr>
              <a:t> Combining tabular demographics, time-series attendance, and unstructured text results in a highly robust system.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Metric-Specific Tuning:</a:t>
            </a:r>
            <a:r>
              <a:rPr sz="1300">
                <a:solidFill>
                  <a:srgbClr val="94A3B8"/>
                </a:solidFill>
                <a:latin typeface="Calibri"/>
              </a:rPr>
              <a:t> Aligning the model output thresholds directly with the target evaluation metric (Macro F1) is critical for competition success.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FUTURE WORK &amp; SCALABILITY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Deep Learning Embeddings:</a:t>
            </a:r>
            <a:r>
              <a:rPr sz="1300">
                <a:solidFill>
                  <a:srgbClr val="94A3B8"/>
                </a:solidFill>
                <a:latin typeface="Calibri"/>
              </a:rPr>
              <a:t> Replace TF-IDF/SVD with transformer embeddings (BERT/RoBERTa) for counselor text.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Explainable AI (XAI):</a:t>
            </a:r>
            <a:r>
              <a:rPr sz="1300">
                <a:solidFill>
                  <a:srgbClr val="94A3B8"/>
                </a:solidFill>
                <a:latin typeface="Calibri"/>
              </a:rPr>
              <a:t> Integrate SHAP or LIME to explain to counselors exactly why a student is flagged.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Real-Time Monitoring Dashboard:</a:t>
            </a:r>
            <a:r>
              <a:rPr sz="1300">
                <a:solidFill>
                  <a:srgbClr val="94A3B8"/>
                </a:solidFill>
                <a:latin typeface="Calibri"/>
              </a:rPr>
              <a:t> Live web portal for faculty/counselors.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• LMS Integration:</a:t>
            </a:r>
            <a:r>
              <a:rPr sz="1300">
                <a:solidFill>
                  <a:srgbClr val="94A3B8"/>
                </a:solidFill>
                <a:latin typeface="Calibri"/>
              </a:rPr>
              <a:t> Direct ingestion of daily attendance and assignment data from Canvas/Moodle.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