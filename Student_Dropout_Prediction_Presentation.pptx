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200400"/>
            <a:ext cx="4114800" cy="411480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F172A"/>
                </a:solidFill>
                <a:latin typeface="Segoe UI"/>
              </a:defRPr>
            </a:pPr>
            <a:r>
              <a:t>Student Dropout Risk Prediction</a:t>
            </a:r>
          </a:p>
          <a:p>
            <a:pPr>
              <a:spcAft>
                <a:spcPts val="5000"/>
              </a:spcAft>
              <a:defRPr sz="1800">
                <a:solidFill>
                  <a:srgbClr val="1D4ED8"/>
                </a:solidFill>
                <a:latin typeface="Segoe UI"/>
              </a:defRPr>
            </a:pPr>
            <a:r>
              <a:t>A Multimodal Machine Learning Approach using Academics, Attendance, and Counselor Insights</a:t>
            </a:r>
          </a:p>
          <a:p>
            <a:pPr>
              <a:spcAft>
                <a:spcPts val="5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Presented by: Adarsh Prakash Singh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t>RetinaAI System | Kaggle Competition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Project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365760" cy="36576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B91C1C"/>
                </a:solidFill>
                <a:latin typeface="Segoe UI"/>
              </a:defRPr>
            </a:pPr>
            <a:r>
              <a:t>THE PROBLEM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Educational institutions struggle to identify at-risk students before they drop out.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Key indicators (academic decline, irregular attendance, behavioral changes) are scattered across disconnected systems.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Traditional intervention methods are reactive and occur too late to support the student effectively.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Manual tracking of qualitative insights (e.g., counselor notes) is labor-intensive and rarely integrated with quantitative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92240" y="1828800"/>
            <a:ext cx="365760" cy="36576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78308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47857"/>
                </a:solidFill>
                <a:latin typeface="Segoe UI"/>
              </a:defRPr>
            </a:pPr>
            <a:r>
              <a:t>THE RETINAAI SOLUTION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A multimodal AI prediction system that fuses academic records, attendance history, and unstructured counselor notes.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Predicts student risk in real-time, categorizing them into: Low Risk (0), Medium Risk (1), or High Risk (2).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NLP extraction translates messy counselor narratives into predictive quantitative dimensions.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Enables targeted, proactive counseling and academic support prior to final withdrawal.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Multimodal Data Modalities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47088" y="1371600"/>
            <a:ext cx="1097280" cy="10972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D4ED8"/>
                </a:solidFill>
                <a:latin typeface="Segoe UI"/>
              </a:defRPr>
            </a:pPr>
            <a:r>
              <a:t>TABULAR DATA</a:t>
            </a:r>
          </a:p>
          <a:p>
            <a:pPr algn="ctr">
              <a:spcAft>
                <a:spcPts val="1400"/>
              </a:spcAft>
              <a:defRPr sz="1200" i="1">
                <a:solidFill>
                  <a:srgbClr val="475569"/>
                </a:solidFill>
                <a:latin typeface="Segoe UI"/>
              </a:defRPr>
            </a:pPr>
            <a:r>
              <a:t>Socio-economic &amp; demographic features.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Demographics: Gender, Branch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Socio-Economic: Family Income, Parent Education, Scholarship Status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Lifestyle Factors: Screen Time, Commute Time, Part-time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1168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41264" y="1371600"/>
            <a:ext cx="1097280" cy="109728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5603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047857"/>
                </a:solidFill>
                <a:latin typeface="Segoe UI"/>
              </a:defRPr>
            </a:pPr>
            <a:r>
              <a:t>ATTENDANCE TIME-SERIES</a:t>
            </a:r>
          </a:p>
          <a:p>
            <a:pPr algn="ctr">
              <a:spcAft>
                <a:spcPts val="1400"/>
              </a:spcAft>
              <a:defRPr sz="1200" i="1">
                <a:solidFill>
                  <a:srgbClr val="475569"/>
                </a:solidFill>
                <a:latin typeface="Segoe UI"/>
              </a:defRPr>
            </a:pPr>
            <a:r>
              <a:t>Temporal attendance tracking.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Semester-wise attendance rates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Long-term trend indicators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Attendance consistency variance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Linear regression slope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01168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35440" y="1371600"/>
            <a:ext cx="1097280" cy="109728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560320"/>
            <a:ext cx="2962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D4ED8"/>
                </a:solidFill>
                <a:latin typeface="Segoe UI"/>
              </a:defRPr>
            </a:pPr>
            <a:r>
              <a:t>COUNSELLOR NOTES (TEXT)</a:t>
            </a:r>
          </a:p>
          <a:p>
            <a:pPr algn="ctr">
              <a:spcAft>
                <a:spcPts val="1400"/>
              </a:spcAft>
              <a:defRPr sz="1200" i="1">
                <a:solidFill>
                  <a:srgbClr val="475569"/>
                </a:solidFill>
                <a:latin typeface="Segoe UI"/>
              </a:defRPr>
            </a:pPr>
            <a:r>
              <a:t>Qualitative behavioral insights.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Messy, unstructured counselor logs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Student feedback narratives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Explanatory context for academic decline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Behavioral and emotional observations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Feature Engineering Strategy</a:t>
            </a:r>
          </a:p>
        </p:txBody>
      </p:sp>
      <p:sp>
        <p:nvSpPr>
          <p:cNvPr id="4" name="Chevron 3"/>
          <p:cNvSpPr/>
          <p:nvPr/>
        </p:nvSpPr>
        <p:spPr>
          <a:xfrm>
            <a:off x="731520" y="1645920"/>
            <a:ext cx="3383280" cy="3931920"/>
          </a:xfrm>
          <a:prstGeom prst="chevron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D4ED8"/>
                </a:solidFill>
                <a:latin typeface="Segoe UI"/>
              </a:defRPr>
            </a:pPr>
            <a:r>
              <a:t>ACADEMIC METRICS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CGPA Mean:</a:t>
            </a:r>
            <a:r>
              <a:rPr sz="1200">
                <a:solidFill>
                  <a:srgbClr val="475569"/>
                </a:solidFill>
                <a:latin typeface="Segoe UI"/>
              </a:rPr>
              <a:t> Captures overall performance history.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CGPA Standard Deviation:</a:t>
            </a:r>
            <a:r>
              <a:rPr sz="1200">
                <a:solidFill>
                  <a:srgbClr val="475569"/>
                </a:solidFill>
                <a:latin typeface="Segoe UI"/>
              </a:rPr>
              <a:t> Monitors performance volatility.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CGPA Trend:</a:t>
            </a:r>
            <a:r>
              <a:rPr sz="1200">
                <a:solidFill>
                  <a:srgbClr val="475569"/>
                </a:solidFill>
                <a:latin typeface="Segoe UI"/>
              </a:rPr>
              <a:t> Captures directional academic trajectory.</a:t>
            </a:r>
          </a:p>
        </p:txBody>
      </p:sp>
      <p:sp>
        <p:nvSpPr>
          <p:cNvPr id="6" name="Chevron 5"/>
          <p:cNvSpPr/>
          <p:nvPr/>
        </p:nvSpPr>
        <p:spPr>
          <a:xfrm>
            <a:off x="4297680" y="1645920"/>
            <a:ext cx="3383280" cy="393192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475569"/>
                </a:solidFill>
                <a:latin typeface="Segoe UI"/>
              </a:defRPr>
            </a:pPr>
            <a:r>
              <a:t>BACKLOG INDICATORS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Total Backlogs:</a:t>
            </a:r>
            <a:r>
              <a:rPr sz="1200">
                <a:solidFill>
                  <a:srgbClr val="475569"/>
                </a:solidFill>
                <a:latin typeface="Segoe UI"/>
              </a:rPr>
              <a:t> Cumulative failed courses.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Average Backlogs:</a:t>
            </a:r>
            <a:r>
              <a:rPr sz="1200">
                <a:solidFill>
                  <a:srgbClr val="475569"/>
                </a:solidFill>
                <a:latin typeface="Segoe UI"/>
              </a:rPr>
              <a:t> Course failure rate.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Backlog Trend:</a:t>
            </a:r>
            <a:r>
              <a:rPr sz="1200">
                <a:solidFill>
                  <a:srgbClr val="475569"/>
                </a:solidFill>
                <a:latin typeface="Segoe UI"/>
              </a:rPr>
              <a:t> Shows whether backlogs are increasing or decreasing over semesters.</a:t>
            </a:r>
          </a:p>
        </p:txBody>
      </p:sp>
      <p:sp>
        <p:nvSpPr>
          <p:cNvPr id="8" name="Chevron 7"/>
          <p:cNvSpPr/>
          <p:nvPr/>
        </p:nvSpPr>
        <p:spPr>
          <a:xfrm>
            <a:off x="7863840" y="1645920"/>
            <a:ext cx="3383280" cy="3931920"/>
          </a:xfrm>
          <a:prstGeom prst="chevron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47857"/>
                </a:solidFill>
                <a:latin typeface="Segoe UI"/>
              </a:defRPr>
            </a:pPr>
            <a:r>
              <a:t>ATTENDANCE DYNAMICS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Attendance Range &amp; Std Dev:</a:t>
            </a:r>
            <a:r>
              <a:rPr sz="1200">
                <a:solidFill>
                  <a:srgbClr val="475569"/>
                </a:solidFill>
                <a:latin typeface="Segoe UI"/>
              </a:rPr>
              <a:t> Tracks attendance consistency.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Attendance Slope:</a:t>
            </a:r>
            <a:r>
              <a:rPr sz="1200">
                <a:solidFill>
                  <a:srgbClr val="475569"/>
                </a:solidFill>
                <a:latin typeface="Segoe UI"/>
              </a:rPr>
              <a:t> Identifies steep drops in class presence.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Semester Metrics:</a:t>
            </a:r>
            <a:r>
              <a:rPr sz="1200">
                <a:solidFill>
                  <a:srgbClr val="475569"/>
                </a:solidFill>
                <a:latin typeface="Segoe UI"/>
              </a:rPr>
              <a:t> Tracks semester-over-semester differences.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TEXT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NLP Extraction on Counselor Notes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D4ED8"/>
                </a:solidFill>
                <a:latin typeface="Segoe UI"/>
              </a:defRPr>
            </a:pPr>
            <a:r>
              <a:t>INPUT: RAW NOTES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Counselor logs contain qualitative text describing medical issues, financial panic, or student challenges.</a:t>
            </a:r>
          </a:p>
          <a:p>
            <a:pPr>
              <a:defRPr sz="1200" b="1">
                <a:solidFill>
                  <a:srgbClr val="B91C1C"/>
                </a:solidFill>
                <a:latin typeface="Segoe UI"/>
              </a:defRPr>
            </a:pPr>
            <a:r>
              <a:t>★ Unstructured and messy; cannot be fed directly to tabular models.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40480" y="2926080"/>
            <a:ext cx="548640" cy="5486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4572000" y="1645920"/>
            <a:ext cx="3108960" cy="3291840"/>
          </a:xfrm>
          <a:prstGeom prst="hexagon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500" b="1">
                <a:solidFill>
                  <a:srgbClr val="1D4ED8"/>
                </a:solidFill>
                <a:latin typeface="Segoe UI"/>
              </a:defRPr>
            </a:pPr>
            <a:r>
              <a:t>NLP PIPELINE</a:t>
            </a:r>
          </a:p>
          <a:p>
            <a:pPr algn="ctr"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1. TF-IDF Vectorization</a:t>
            </a:r>
            <a:br/>
            <a:r>
              <a:t>Converts counselor logs into word frequency metrics, focusing on key risk terms.</a:t>
            </a:r>
          </a:p>
          <a:p>
            <a:pPr algn="ctr">
              <a:defRPr sz="1200">
                <a:solidFill>
                  <a:srgbClr val="0F172A"/>
                </a:solidFill>
                <a:latin typeface="Segoe UI"/>
              </a:defRPr>
            </a:pPr>
            <a:r>
              <a:t>2. Truncated SVD (LSA)</a:t>
            </a:r>
            <a:br/>
            <a:r>
              <a:t>Reduces dimensions to dense semantic components, filtering noise.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63840" y="2926080"/>
            <a:ext cx="548640" cy="5486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0" y="1645920"/>
            <a:ext cx="2926080" cy="3291840"/>
          </a:xfrm>
          <a:prstGeom prst="ellipse">
            <a:avLst/>
          </a:prstGeom>
          <a:solidFill>
            <a:srgbClr val="F0FDFA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92024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500" b="1">
                <a:solidFill>
                  <a:srgbClr val="047857"/>
                </a:solidFill>
                <a:latin typeface="Segoe UI"/>
              </a:defRPr>
            </a:pPr>
            <a:r>
              <a:t>OUTPUT: DENSE SVD</a:t>
            </a:r>
          </a:p>
          <a:p>
            <a:pPr algn="ctr">
              <a:defRPr sz="1200">
                <a:solidFill>
                  <a:srgbClr val="0F172A"/>
                </a:solidFill>
                <a:latin typeface="Segoe UI"/>
              </a:defRPr>
            </a:pPr>
            <a:r>
              <a:t>Dense numerical vectors integrating smoothly with tabular and time-series models, extracting semantic themes.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89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★ Performance Lift: Feature importance calculations prove that SVD embeddings from counselor logs rank as one of the strongest predictor variables in the final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Machine Learning Modeling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28416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D4ED8"/>
                </a:solidFill>
                <a:latin typeface="Segoe UI"/>
              </a:defRPr>
            </a:pPr>
            <a:r>
              <a:t>CATBOOST</a:t>
            </a:r>
          </a:p>
          <a:p>
            <a:pPr>
              <a:spcAft>
                <a:spcPts val="20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Built-in support for categorical features. Uses ordered target statistics and symmetric trees.</a:t>
            </a:r>
          </a:p>
          <a:p>
            <a:pPr>
              <a:defRPr sz="1500" b="1">
                <a:solidFill>
                  <a:srgbClr val="1D4ED8"/>
                </a:solidFill>
                <a:latin typeface="Segoe UI"/>
              </a:defRPr>
            </a:pPr>
            <a:r>
              <a:t>Ensemble Weight: 70%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25696" y="1828800"/>
            <a:ext cx="3328416" cy="182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219456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47857"/>
                </a:solidFill>
                <a:latin typeface="Segoe UI"/>
              </a:defRPr>
            </a:pPr>
            <a:r>
              <a:t>LIGHTGBM</a:t>
            </a:r>
          </a:p>
          <a:p>
            <a:pPr>
              <a:spcAft>
                <a:spcPts val="20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Fast, highly efficient histogram-based gradient booster. Uses leaf-wise tree growth.</a:t>
            </a:r>
          </a:p>
          <a:p>
            <a:pPr>
              <a:defRPr sz="1500" b="1">
                <a:solidFill>
                  <a:srgbClr val="047857"/>
                </a:solidFill>
                <a:latin typeface="Segoe UI"/>
              </a:defRPr>
            </a:pPr>
            <a:r>
              <a:t>Ensemble Weight: 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828800"/>
            <a:ext cx="3328416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9872" y="1828800"/>
            <a:ext cx="3328416" cy="1828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19456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B91C1C"/>
                </a:solidFill>
                <a:latin typeface="Segoe UI"/>
              </a:defRPr>
            </a:pPr>
            <a:r>
              <a:t>XGBOOST</a:t>
            </a:r>
          </a:p>
          <a:p>
            <a:pPr>
              <a:spcAft>
                <a:spcPts val="20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Extremely robust tree booster with built-in L1/L2 regularization to control complexity.</a:t>
            </a:r>
          </a:p>
          <a:p>
            <a:pPr>
              <a:defRPr sz="1500" b="1">
                <a:solidFill>
                  <a:srgbClr val="B91C1C"/>
                </a:solidFill>
                <a:latin typeface="Segoe UI"/>
              </a:defRPr>
            </a:pPr>
            <a:r>
              <a:t>Ensemble Weight: 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475569"/>
                </a:solidFill>
                <a:latin typeface="Segoe UI"/>
              </a:defRPr>
            </a:pPr>
            <a:r>
              <a:t>Cross-Validation: Stratified 5-Fold to address class imbalance. | Primary optimization directed at Macro F1-Score.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Ensemble &amp; Threshold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CatBoost (70%)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0400" y="2057400"/>
            <a:ext cx="36576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377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LightGBM (15%)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063240"/>
            <a:ext cx="36576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23774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XGBoost (15%)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00400" y="4069080"/>
            <a:ext cx="36576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3749039" y="2194560"/>
            <a:ext cx="2926080" cy="2103120"/>
          </a:xfrm>
          <a:prstGeom prst="diamond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743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D4ED8"/>
                </a:solidFill>
                <a:latin typeface="Segoe UI"/>
              </a:defRPr>
            </a:pPr>
            <a:r>
              <a:t>Soft Voting Ensemble</a:t>
            </a:r>
            <a:br/>
            <a:r>
              <a:t>(Weighted Probs)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8000" y="3063240"/>
            <a:ext cx="457200" cy="36576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93192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182880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47857"/>
                </a:solidFill>
                <a:latin typeface="Segoe UI"/>
              </a:defRPr>
            </a:pPr>
            <a:r>
              <a:t>THRESHOLD OPTIMIZATION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Since the target metric is Macro F1, class imbalance severely penalizes poor predictions on minority classes.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By tuning threshold multipliers on validation folds, we scale minority probabilities:</a:t>
            </a:r>
          </a:p>
          <a:p>
            <a:pPr>
              <a:spcAft>
                <a:spcPts val="1000"/>
              </a:spcAft>
              <a:defRPr sz="1400" b="1">
                <a:solidFill>
                  <a:srgbClr val="1D4ED8"/>
                </a:solidFill>
                <a:latin typeface="Segoe UI"/>
              </a:defRPr>
            </a:pPr>
            <a:r>
              <a:t>★ Class 1 Multiplier: 1.30</a:t>
            </a:r>
            <a:br/>
            <a:r>
              <a:t>★ Class 2 Multiplier: 1.30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Scaling shifts the decision boundaries, maximizing the recall of at-risk students and boosting the Macro F1.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Model Performance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D4ED8"/>
                </a:solidFill>
                <a:latin typeface="Segoe UI"/>
              </a:defRPr>
            </a:pPr>
            <a:r>
              <a:t>EVALUATION METRIC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The primary evaluation metric is the Macro F1-Score, which computes F1 independently for each class and averages them.</a:t>
            </a:r>
          </a:p>
          <a:p>
            <a:pPr>
              <a:spcAft>
                <a:spcPts val="2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Ensembling reduces error variances, while threshold optimization directly targets the metric imbalance penalty.</a:t>
            </a:r>
          </a:p>
          <a:p>
            <a:pPr>
              <a:defRPr sz="1300">
                <a:solidFill>
                  <a:srgbClr val="0F172A"/>
                </a:solidFill>
                <a:latin typeface="Segoe UI"/>
              </a:defRPr>
            </a:pPr>
            <a:r>
              <a:t>Final Best Validation Score:</a:t>
            </a:r>
          </a:p>
          <a:p>
            <a:pPr>
              <a:defRPr sz="2600" b="1">
                <a:solidFill>
                  <a:srgbClr val="047857"/>
                </a:solidFill>
                <a:latin typeface="Segoe UI"/>
              </a:defRPr>
            </a:pPr>
            <a:r>
              <a:t>0.7072 Macro F1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20640" y="1645920"/>
          <a:ext cx="6309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201168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 / Technique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Validation Macro F1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CatBoost (Standalone)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LightGBM (Standalone)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0.6887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XGBoost (Standalone)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0.6927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Three-Model Ensemble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0.7017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Ensemble + Threshold Optimization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0.7072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Key Insights &amp; Project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37160" cy="4389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D4ED8"/>
                </a:solidFill>
                <a:latin typeface="Segoe UI"/>
              </a:defRPr>
            </a:pPr>
            <a:r>
              <a:t>KEY DROPOUT DRIVERS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Attendance Behavior:</a:t>
            </a:r>
            <a:r>
              <a:rPr sz="1200">
                <a:solidFill>
                  <a:srgbClr val="475569"/>
                </a:solidFill>
                <a:latin typeface="Segoe UI"/>
              </a:rPr>
              <a:t> Strongest indicator of disengagement.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CGPA Consistency &amp; Trend:</a:t>
            </a:r>
            <a:r>
              <a:rPr sz="1200">
                <a:solidFill>
                  <a:srgbClr val="475569"/>
                </a:solidFill>
                <a:latin typeface="Segoe UI"/>
              </a:rPr>
              <a:t> Sudden declines trigger warnings.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Lifestyle Factors:</a:t>
            </a:r>
            <a:r>
              <a:rPr sz="1200">
                <a:solidFill>
                  <a:srgbClr val="475569"/>
                </a:solidFill>
                <a:latin typeface="Segoe UI"/>
              </a:rPr>
              <a:t> Excessive screen time and long commute times.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Socio-Economic Variables:</a:t>
            </a:r>
            <a:r>
              <a:rPr sz="1200">
                <a:solidFill>
                  <a:srgbClr val="475569"/>
                </a:solidFill>
                <a:latin typeface="Segoe UI"/>
              </a:rPr>
              <a:t> Family income and parental support.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Counsellor Insights:</a:t>
            </a:r>
            <a:r>
              <a:rPr sz="1200">
                <a:solidFill>
                  <a:srgbClr val="475569"/>
                </a:solidFill>
                <a:latin typeface="Segoe UI"/>
              </a:rPr>
              <a:t> Highly discriminative when NLP-processed.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137160" cy="4389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B91C1C"/>
                </a:solidFill>
                <a:latin typeface="Segoe UI"/>
              </a:defRPr>
            </a:pPr>
            <a:r>
              <a:t>CHALLENGES OVERCOME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Messy Texts:</a:t>
            </a:r>
            <a:r>
              <a:rPr sz="1200">
                <a:solidFill>
                  <a:srgbClr val="475569"/>
                </a:solidFill>
                <a:latin typeface="Segoe UI"/>
              </a:rPr>
              <a:t> Filtering repetitive boilerplate phrases from counselor reports.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Feature Drift:</a:t>
            </a:r>
            <a:r>
              <a:rPr sz="1200">
                <a:solidFill>
                  <a:srgbClr val="475569"/>
                </a:solidFill>
                <a:latin typeface="Segoe UI"/>
              </a:rPr>
              <a:t> Ensuring engineered academic/attendance metrics match across training and test splits.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Class Disproportion:</a:t>
            </a:r>
            <a:r>
              <a:rPr sz="1200">
                <a:solidFill>
                  <a:srgbClr val="475569"/>
                </a:solidFill>
                <a:latin typeface="Segoe UI"/>
              </a:rPr>
              <a:t> Overcoming poor validation scores on minority dropout classes via threshold optimization.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0F172A"/>
                </a:solidFill>
                <a:latin typeface="Segoe UI"/>
              </a:rPr>
              <a:t>• Imbalanced F1 Optimization:</a:t>
            </a:r>
            <a:r>
              <a:rPr sz="1200">
                <a:solidFill>
                  <a:srgbClr val="475569"/>
                </a:solidFill>
                <a:latin typeface="Segoe UI"/>
              </a:rPr>
              <a:t> Directing GBDT models toward Macro F1 rather than raw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Future Scope &amp;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D4ED8"/>
                </a:solidFill>
                <a:latin typeface="Segoe UI"/>
              </a:defRPr>
            </a:pPr>
            <a:r>
              <a:t>Feature Engineering Wins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Clean, domain-specific features (CGPA slopes, backlog trajectories) yield far higher performance than raw model parameter tuning.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182880" cy="182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D4ED8"/>
                </a:solidFill>
                <a:latin typeface="Segoe UI"/>
              </a:defRPr>
            </a:pPr>
            <a:r>
              <a:t>Multimodal Synergy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Fusing socio-economics (tabular), temporal habits (attendance series), and emotional warnings (text) builds the most robust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4023360"/>
            <a:ext cx="182880" cy="182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47857"/>
                </a:solidFill>
                <a:latin typeface="Segoe UI"/>
              </a:defRPr>
            </a:pPr>
            <a:r>
              <a:t>Zero-Shot Text &amp; SHAP (XAI)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Integrating Explainable AI (SHAP waterfall charts) and zero-shot NLP sentiment flags will make risks transparent and actionable.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023360"/>
            <a:ext cx="182880" cy="182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47857"/>
                </a:solidFill>
                <a:latin typeface="Segoe UI"/>
              </a:defRPr>
            </a:pPr>
            <a:r>
              <a:t>Causal AI Interventions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Using Causal Inference models to suggest the exact treatment (tutoring, scholarship) that yields the maximum risk reduction.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